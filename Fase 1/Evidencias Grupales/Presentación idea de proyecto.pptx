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YNse72GIbYBmr6DSWxSRxJphR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bb6e1aa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8bb6e1aa0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bb6e1aa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8bb6e1aa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bb6e1aa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bb6e1aa0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bb6e1aa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8bb6e1aa0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bb6e1aa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8bb6e1aa0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7"/>
          <p:cNvSpPr/>
          <p:nvPr/>
        </p:nvSpPr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897000" y="2158175"/>
            <a:ext cx="25479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CL"/>
              <a:t>EXILUS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191425" y="5730025"/>
            <a:ext cx="441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1800">
                <a:solidFill>
                  <a:schemeClr val="lt1"/>
                </a:solidFill>
              </a:rPr>
              <a:t>APT4614 Capstone - Sección 005D</a:t>
            </a:r>
            <a:endParaRPr b="1" i="1" sz="1800"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89975" y="3655475"/>
            <a:ext cx="5188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-CL" sz="1900">
                <a:solidFill>
                  <a:schemeClr val="lt1"/>
                </a:solidFill>
              </a:rPr>
              <a:t>Abraham Fernández | Gabriel Delgado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89975" y="4598100"/>
            <a:ext cx="5480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lt1"/>
                </a:solidFill>
              </a:rPr>
              <a:t>Docente: Fabian Alejandro Alvarez Montenegro</a:t>
            </a:r>
            <a:br>
              <a:rPr lang="es-CL" sz="1900">
                <a:solidFill>
                  <a:schemeClr val="lt1"/>
                </a:solidFill>
              </a:rPr>
            </a:br>
            <a:r>
              <a:rPr lang="es-CL" sz="1900">
                <a:solidFill>
                  <a:schemeClr val="lt1"/>
                </a:solidFill>
              </a:rPr>
              <a:t>Fecha: 03/09/2026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Resumen Ejecutivo 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52825" y="2085975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195700" y="1916300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	PROBLEMA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374300" y="2711050"/>
            <a:ext cx="26376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Información de pacientes gestionada mediante </a:t>
            </a:r>
            <a:r>
              <a:rPr lang="es-CL">
                <a:solidFill>
                  <a:schemeClr val="dk1"/>
                </a:solidFill>
              </a:rPr>
              <a:t>archivos Excel</a:t>
            </a:r>
            <a:r>
              <a:rPr lang="es-CL">
                <a:solidFill>
                  <a:schemeClr val="dk1"/>
                </a:solidFill>
              </a:rPr>
              <a:t>, dificultando su organización y consulta.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2" name="Google Shape;102;p2"/>
          <p:cNvCxnSpPr/>
          <p:nvPr/>
        </p:nvCxnSpPr>
        <p:spPr>
          <a:xfrm flipH="1" rot="10800000">
            <a:off x="1418950" y="2550250"/>
            <a:ext cx="1250100" cy="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2"/>
          <p:cNvSpPr/>
          <p:nvPr/>
        </p:nvSpPr>
        <p:spPr>
          <a:xfrm>
            <a:off x="4555650" y="2126188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698525" y="2001138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	SOLUCIÓN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877125" y="2795888"/>
            <a:ext cx="21966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Sistema informático que centraliza la información y mantiene relacionados los registros de cada paciente.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6" name="Google Shape;106;p2"/>
          <p:cNvCxnSpPr/>
          <p:nvPr/>
        </p:nvCxnSpPr>
        <p:spPr>
          <a:xfrm flipH="1" rot="10800000">
            <a:off x="4921775" y="2626088"/>
            <a:ext cx="1223400" cy="1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2"/>
          <p:cNvSpPr/>
          <p:nvPr/>
        </p:nvSpPr>
        <p:spPr>
          <a:xfrm>
            <a:off x="7938800" y="2085975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58475" y="2228800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ALCANCE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278125" y="2880725"/>
            <a:ext cx="21966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Pacientes | Exámenes </a:t>
            </a:r>
            <a:r>
              <a:rPr lang="es-CL">
                <a:solidFill>
                  <a:schemeClr val="dk1"/>
                </a:solidFill>
              </a:rPr>
              <a:t>| Garantías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0" name="Google Shape;110;p2"/>
          <p:cNvCxnSpPr/>
          <p:nvPr/>
        </p:nvCxnSpPr>
        <p:spPr>
          <a:xfrm flipH="1" rot="10800000">
            <a:off x="8281675" y="2626100"/>
            <a:ext cx="1223400" cy="18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965850" y="4764875"/>
            <a:ext cx="10260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rgbClr val="1E2730"/>
                </a:solidFill>
              </a:rPr>
              <a:t>Exilus es un sistema informático orientado a la gestión de información de una consulta oftalmológica.</a:t>
            </a:r>
            <a:endParaRPr sz="1600">
              <a:solidFill>
                <a:srgbClr val="1E273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rgbClr val="1E2730"/>
                </a:solidFill>
              </a:rPr>
              <a:t>La solución centraliza pacientes, exámenes, garantías y recetas en una misma plataforma.</a:t>
            </a:r>
            <a:endParaRPr sz="1600">
              <a:solidFill>
                <a:srgbClr val="1E273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050" y="2050250"/>
            <a:ext cx="247650" cy="24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425" y="2088225"/>
            <a:ext cx="247650" cy="24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3425" y="2088225"/>
            <a:ext cx="247650" cy="23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bb6e1aa0_0_98"/>
          <p:cNvSpPr txBox="1"/>
          <p:nvPr>
            <p:ph idx="1" type="body"/>
          </p:nvPr>
        </p:nvSpPr>
        <p:spPr>
          <a:xfrm>
            <a:off x="3563700" y="593850"/>
            <a:ext cx="506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Definición del Proyecto</a:t>
            </a:r>
            <a:endParaRPr/>
          </a:p>
        </p:txBody>
      </p:sp>
      <p:sp>
        <p:nvSpPr>
          <p:cNvPr id="120" name="Google Shape;120;g3f8bb6e1aa0_0_98"/>
          <p:cNvSpPr txBox="1"/>
          <p:nvPr>
            <p:ph idx="2" type="body"/>
          </p:nvPr>
        </p:nvSpPr>
        <p:spPr>
          <a:xfrm>
            <a:off x="738950" y="1344825"/>
            <a:ext cx="108132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  Sistema informático para gestionar y centralizar la información de pacientes y exámenes oftalmológicos de una consulta, reemplazando la gestión dispersa mediante archivos Excel por una plataforma centralizada. </a:t>
            </a:r>
            <a:endParaRPr sz="1800"/>
          </a:p>
        </p:txBody>
      </p:sp>
      <p:sp>
        <p:nvSpPr>
          <p:cNvPr id="121" name="Google Shape;121;g3f8bb6e1aa0_0_98"/>
          <p:cNvSpPr txBox="1"/>
          <p:nvPr>
            <p:ph idx="1" type="body"/>
          </p:nvPr>
        </p:nvSpPr>
        <p:spPr>
          <a:xfrm>
            <a:off x="3563700" y="3194100"/>
            <a:ext cx="506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Relevancia Laboral</a:t>
            </a:r>
            <a:endParaRPr/>
          </a:p>
        </p:txBody>
      </p:sp>
      <p:sp>
        <p:nvSpPr>
          <p:cNvPr id="122" name="Google Shape;122;g3f8bb6e1aa0_0_98"/>
          <p:cNvSpPr txBox="1"/>
          <p:nvPr>
            <p:ph idx="2" type="body"/>
          </p:nvPr>
        </p:nvSpPr>
        <p:spPr>
          <a:xfrm>
            <a:off x="539400" y="3961825"/>
            <a:ext cx="111132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Responde a una necesidad real, mejorando la organización, gestión y acceso a la información, y permite aplicar competencias profesionales de análisis de requerimientos, base de datos, desarrollo de apps y pruebas de software.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1104950" y="1202925"/>
            <a:ext cx="3501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/>
              <a:t>Áreas de desempeño</a:t>
            </a:r>
            <a:endParaRPr b="1" sz="2500"/>
          </a:p>
        </p:txBody>
      </p:sp>
      <p:sp>
        <p:nvSpPr>
          <p:cNvPr id="128" name="Google Shape;128;p6"/>
          <p:cNvSpPr/>
          <p:nvPr/>
        </p:nvSpPr>
        <p:spPr>
          <a:xfrm>
            <a:off x="1338475" y="182705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1982250" y="1996850"/>
            <a:ext cx="182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Programación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338475" y="307780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1544250" y="3256450"/>
            <a:ext cx="279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Gestión de Proyectos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338475" y="432855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1945100" y="4516050"/>
            <a:ext cx="182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DBA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09" y="234350"/>
            <a:ext cx="53607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4946824" y="358550"/>
            <a:ext cx="5265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PERFIL DE EGRESO | COMPETENCIAS APLICADAS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92761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5088250" y="104097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Análisis de requerimientos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1711100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5088250" y="1824463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Programación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247201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5088250" y="258537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Diseño y desarrollo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323666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5088250" y="335002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Modelamiento DB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4001325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5088250" y="4114688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Pruebas de software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488" y="4824200"/>
            <a:ext cx="30575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4946800" y="5014100"/>
            <a:ext cx="27189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INTERÉS PROFESIONAL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892625" y="5471900"/>
            <a:ext cx="5849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Aplicar conocimientos de sistemas y bases de datos a una </a:t>
            </a:r>
            <a:r>
              <a:rPr lang="es-CL" sz="2000">
                <a:solidFill>
                  <a:schemeClr val="dk1"/>
                </a:solidFill>
              </a:rPr>
              <a:t>problemática</a:t>
            </a:r>
            <a:r>
              <a:rPr lang="es-CL" sz="2000">
                <a:solidFill>
                  <a:schemeClr val="dk1"/>
                </a:solidFill>
              </a:rPr>
              <a:t> real.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Objetivos del Proyecto</a:t>
            </a:r>
            <a:endParaRPr/>
          </a:p>
        </p:txBody>
      </p:sp>
      <p:sp>
        <p:nvSpPr>
          <p:cNvPr id="154" name="Google Shape;154;p8"/>
          <p:cNvSpPr txBox="1"/>
          <p:nvPr>
            <p:ph idx="2" type="body"/>
          </p:nvPr>
        </p:nvSpPr>
        <p:spPr>
          <a:xfrm>
            <a:off x="1890575" y="1826500"/>
            <a:ext cx="63714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Desarrollar un sistema informático para gestionar y centralizar la información de los pacientes de una consulta oftalmológica, incorporando datos, garantías, exámenes, recetas y envío de estas por correo </a:t>
            </a:r>
            <a:r>
              <a:rPr lang="es-CL" sz="1800"/>
              <a:t>electrónico</a:t>
            </a:r>
            <a:r>
              <a:rPr lang="es-CL" sz="1800"/>
              <a:t>.</a:t>
            </a:r>
            <a:endParaRPr sz="1800"/>
          </a:p>
        </p:txBody>
      </p:sp>
      <p:pic>
        <p:nvPicPr>
          <p:cNvPr id="155" name="Google Shape;1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825" y="1160300"/>
            <a:ext cx="2268225" cy="5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350" y="3660800"/>
            <a:ext cx="10483252" cy="23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8325" y="3012725"/>
            <a:ext cx="2268274" cy="5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9919163" y="3088750"/>
            <a:ext cx="171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ESPECÍFICO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Metodología</a:t>
            </a:r>
            <a:endParaRPr/>
          </a:p>
        </p:txBody>
      </p:sp>
      <p:sp>
        <p:nvSpPr>
          <p:cNvPr id="164" name="Google Shape;164;p10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Enfoque tradicional / secuencial</a:t>
            </a:r>
            <a:endParaRPr/>
          </a:p>
        </p:txBody>
      </p:sp>
      <p:pic>
        <p:nvPicPr>
          <p:cNvPr id="165" name="Google Shape;1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2977"/>
            <a:ext cx="11887200" cy="2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idx="2" type="body"/>
          </p:nvPr>
        </p:nvSpPr>
        <p:spPr>
          <a:xfrm>
            <a:off x="243250" y="3253200"/>
            <a:ext cx="1512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</a:pPr>
            <a:r>
              <a:rPr lang="es-CL" sz="1490"/>
              <a:t>Levantamiento</a:t>
            </a:r>
            <a:endParaRPr/>
          </a:p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</a:pPr>
            <a:r>
              <a:rPr lang="es-CL" sz="1490"/>
              <a:t>y análisis</a:t>
            </a:r>
            <a:endParaRPr sz="1490"/>
          </a:p>
        </p:txBody>
      </p:sp>
      <p:sp>
        <p:nvSpPr>
          <p:cNvPr id="167" name="Google Shape;167;p10"/>
          <p:cNvSpPr txBox="1"/>
          <p:nvPr>
            <p:ph idx="2" type="body"/>
          </p:nvPr>
        </p:nvSpPr>
        <p:spPr>
          <a:xfrm>
            <a:off x="2347725" y="3253200"/>
            <a:ext cx="1405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Solución + DB</a:t>
            </a:r>
            <a:endParaRPr/>
          </a:p>
        </p:txBody>
      </p:sp>
      <p:sp>
        <p:nvSpPr>
          <p:cNvPr id="168" name="Google Shape;168;p10"/>
          <p:cNvSpPr txBox="1"/>
          <p:nvPr>
            <p:ph idx="2" type="body"/>
          </p:nvPr>
        </p:nvSpPr>
        <p:spPr>
          <a:xfrm>
            <a:off x="4164950" y="3294675"/>
            <a:ext cx="1670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Implementación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de módulos</a:t>
            </a:r>
            <a:endParaRPr/>
          </a:p>
        </p:txBody>
      </p:sp>
      <p:sp>
        <p:nvSpPr>
          <p:cNvPr id="169" name="Google Shape;169;p10"/>
          <p:cNvSpPr txBox="1"/>
          <p:nvPr>
            <p:ph idx="2" type="body"/>
          </p:nvPr>
        </p:nvSpPr>
        <p:spPr>
          <a:xfrm>
            <a:off x="6311488" y="3294675"/>
            <a:ext cx="1600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Unificación de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funcionalidades</a:t>
            </a:r>
            <a:endParaRPr/>
          </a:p>
        </p:txBody>
      </p:sp>
      <p:sp>
        <p:nvSpPr>
          <p:cNvPr id="170" name="Google Shape;170;p10"/>
          <p:cNvSpPr txBox="1"/>
          <p:nvPr>
            <p:ph idx="2" type="body"/>
          </p:nvPr>
        </p:nvSpPr>
        <p:spPr>
          <a:xfrm>
            <a:off x="8388750" y="3294675"/>
            <a:ext cx="1405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Validación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y resultados</a:t>
            </a:r>
            <a:endParaRPr/>
          </a:p>
        </p:txBody>
      </p:sp>
      <p:sp>
        <p:nvSpPr>
          <p:cNvPr id="171" name="Google Shape;171;p10"/>
          <p:cNvSpPr txBox="1"/>
          <p:nvPr>
            <p:ph idx="2" type="body"/>
          </p:nvPr>
        </p:nvSpPr>
        <p:spPr>
          <a:xfrm>
            <a:off x="10111775" y="3133425"/>
            <a:ext cx="20340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Corrección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y preparación final</a:t>
            </a:r>
            <a:endParaRPr/>
          </a:p>
        </p:txBody>
      </p:sp>
      <p:sp>
        <p:nvSpPr>
          <p:cNvPr id="172" name="Google Shape;172;p10"/>
          <p:cNvSpPr txBox="1"/>
          <p:nvPr>
            <p:ph idx="2" type="body"/>
          </p:nvPr>
        </p:nvSpPr>
        <p:spPr>
          <a:xfrm>
            <a:off x="1815299" y="4848350"/>
            <a:ext cx="8561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Cada etapa se completa antes de avanzar a la siguiente, manteniendo así una planificación estructurada y </a:t>
            </a:r>
            <a:r>
              <a:rPr lang="es-CL" sz="1800"/>
              <a:t>responsabilidades</a:t>
            </a:r>
            <a:r>
              <a:rPr lang="es-CL" sz="1800"/>
              <a:t> distribuidas entre el equipo.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bb6e1aa0_0_66"/>
          <p:cNvSpPr txBox="1"/>
          <p:nvPr>
            <p:ph idx="1" type="body"/>
          </p:nvPr>
        </p:nvSpPr>
        <p:spPr>
          <a:xfrm>
            <a:off x="654675" y="551050"/>
            <a:ext cx="6877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Plan de trabajo y Cronograma</a:t>
            </a:r>
            <a:endParaRPr/>
          </a:p>
        </p:txBody>
      </p:sp>
      <p:pic>
        <p:nvPicPr>
          <p:cNvPr id="178" name="Google Shape;178;g3f8bb6e1aa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3250"/>
            <a:ext cx="6007675" cy="45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8bb6e1aa0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0075" y="1714575"/>
            <a:ext cx="5923075" cy="235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f8bb6e1aa0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1525" y="1447649"/>
            <a:ext cx="2331125" cy="2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8bb6e1aa0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2475" y="4225647"/>
            <a:ext cx="960500" cy="41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bb6e1aa0_0_66"/>
          <p:cNvSpPr txBox="1"/>
          <p:nvPr/>
        </p:nvSpPr>
        <p:spPr>
          <a:xfrm>
            <a:off x="6330713" y="4644325"/>
            <a:ext cx="55818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IDE: Visual Studio Code.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Lenguaje de programación: Python.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Interfaz: PySide6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API:Rest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herramientas de modelado de datos: SQLite.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bb6e1aa0_0_84"/>
          <p:cNvSpPr txBox="1"/>
          <p:nvPr>
            <p:ph idx="1" type="body"/>
          </p:nvPr>
        </p:nvSpPr>
        <p:spPr>
          <a:xfrm>
            <a:off x="654669" y="551050"/>
            <a:ext cx="7644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Factibilidad, </a:t>
            </a:r>
            <a:r>
              <a:rPr lang="es-CL"/>
              <a:t>riesgos</a:t>
            </a:r>
            <a:r>
              <a:rPr lang="es-CL"/>
              <a:t> y mitigaciones</a:t>
            </a:r>
            <a:endParaRPr/>
          </a:p>
        </p:txBody>
      </p:sp>
      <p:sp>
        <p:nvSpPr>
          <p:cNvPr id="188" name="Google Shape;188;g3f8bb6e1aa0_0_84"/>
          <p:cNvSpPr txBox="1"/>
          <p:nvPr>
            <p:ph idx="2" type="body"/>
          </p:nvPr>
        </p:nvSpPr>
        <p:spPr>
          <a:xfrm>
            <a:off x="368775" y="2293850"/>
            <a:ext cx="5564100" cy="21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1800"/>
              <a:t>Factibilidad: </a:t>
            </a:r>
            <a:r>
              <a:rPr lang="es-CL" sz="1800"/>
              <a:t>El proyecto es altamente viable porque el equipo posee los conocimientos técnicos requeridos y tiene acceso directo al cliente para el levantamiento de información.</a:t>
            </a:r>
            <a:endParaRPr sz="18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8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1800"/>
              <a:t>Facilitadores:</a:t>
            </a:r>
            <a:r>
              <a:rPr lang="es-CL" sz="1800"/>
              <a:t> Sólido trabajo en equipo, conocimientos previos de la carrera y disponibilidad de herramientas tecnológicas. </a:t>
            </a:r>
            <a:endParaRPr sz="1800"/>
          </a:p>
        </p:txBody>
      </p:sp>
      <p:pic>
        <p:nvPicPr>
          <p:cNvPr id="189" name="Google Shape;189;g3f8bb6e1aa0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8bb6e1aa0_0_84"/>
          <p:cNvSpPr/>
          <p:nvPr/>
        </p:nvSpPr>
        <p:spPr>
          <a:xfrm>
            <a:off x="6089975" y="15826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8bb6e1aa0_0_84"/>
          <p:cNvSpPr txBox="1"/>
          <p:nvPr/>
        </p:nvSpPr>
        <p:spPr>
          <a:xfrm>
            <a:off x="6279425" y="16886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Riesgo 1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2" name="Google Shape;192;g3f8bb6e1aa0_0_84"/>
          <p:cNvSpPr txBox="1"/>
          <p:nvPr>
            <p:ph idx="2" type="body"/>
          </p:nvPr>
        </p:nvSpPr>
        <p:spPr>
          <a:xfrm>
            <a:off x="6203225" y="2312325"/>
            <a:ext cx="2139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Cambios imprevistos en los requerimientos de la consulta oftalmológica. </a:t>
            </a:r>
            <a:endParaRPr sz="1700"/>
          </a:p>
        </p:txBody>
      </p:sp>
      <p:sp>
        <p:nvSpPr>
          <p:cNvPr id="193" name="Google Shape;193;g3f8bb6e1aa0_0_84"/>
          <p:cNvSpPr/>
          <p:nvPr/>
        </p:nvSpPr>
        <p:spPr>
          <a:xfrm>
            <a:off x="8557750" y="2340750"/>
            <a:ext cx="887400" cy="44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4" name="Google Shape;194;g3f8bb6e1aa0_0_84"/>
          <p:cNvSpPr/>
          <p:nvPr/>
        </p:nvSpPr>
        <p:spPr>
          <a:xfrm>
            <a:off x="9486550" y="15826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bb6e1aa0_0_84"/>
          <p:cNvSpPr txBox="1"/>
          <p:nvPr/>
        </p:nvSpPr>
        <p:spPr>
          <a:xfrm>
            <a:off x="9676000" y="16886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Mitigación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6" name="Google Shape;196;g3f8bb6e1aa0_0_84"/>
          <p:cNvSpPr txBox="1"/>
          <p:nvPr>
            <p:ph idx="2" type="body"/>
          </p:nvPr>
        </p:nvSpPr>
        <p:spPr>
          <a:xfrm>
            <a:off x="9486550" y="2293850"/>
            <a:ext cx="2366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Comunicación constante y validación temprana de requerimientos con el cliente </a:t>
            </a:r>
            <a:endParaRPr sz="1700"/>
          </a:p>
        </p:txBody>
      </p:sp>
      <p:sp>
        <p:nvSpPr>
          <p:cNvPr id="197" name="Google Shape;197;g3f8bb6e1aa0_0_84"/>
          <p:cNvSpPr/>
          <p:nvPr/>
        </p:nvSpPr>
        <p:spPr>
          <a:xfrm>
            <a:off x="6089975" y="36754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8bb6e1aa0_0_84"/>
          <p:cNvSpPr txBox="1"/>
          <p:nvPr/>
        </p:nvSpPr>
        <p:spPr>
          <a:xfrm>
            <a:off x="6279425" y="37814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Riesgo 2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9" name="Google Shape;199;g3f8bb6e1aa0_0_84"/>
          <p:cNvSpPr txBox="1"/>
          <p:nvPr>
            <p:ph idx="2" type="body"/>
          </p:nvPr>
        </p:nvSpPr>
        <p:spPr>
          <a:xfrm>
            <a:off x="6203225" y="4405125"/>
            <a:ext cx="2139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Limitaciones o cruces en la disponibilidad de tiempo del equipo. </a:t>
            </a:r>
            <a:endParaRPr sz="1700"/>
          </a:p>
        </p:txBody>
      </p:sp>
      <p:sp>
        <p:nvSpPr>
          <p:cNvPr id="200" name="Google Shape;200;g3f8bb6e1aa0_0_84"/>
          <p:cNvSpPr/>
          <p:nvPr/>
        </p:nvSpPr>
        <p:spPr>
          <a:xfrm>
            <a:off x="8557750" y="4433550"/>
            <a:ext cx="887400" cy="44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1" name="Google Shape;201;g3f8bb6e1aa0_0_84"/>
          <p:cNvSpPr/>
          <p:nvPr/>
        </p:nvSpPr>
        <p:spPr>
          <a:xfrm>
            <a:off x="9486550" y="36754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8bb6e1aa0_0_84"/>
          <p:cNvSpPr txBox="1"/>
          <p:nvPr/>
        </p:nvSpPr>
        <p:spPr>
          <a:xfrm>
            <a:off x="9676000" y="37814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Mitigación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203" name="Google Shape;203;g3f8bb6e1aa0_0_84"/>
          <p:cNvSpPr txBox="1"/>
          <p:nvPr>
            <p:ph idx="2" type="body"/>
          </p:nvPr>
        </p:nvSpPr>
        <p:spPr>
          <a:xfrm>
            <a:off x="9486550" y="4386650"/>
            <a:ext cx="2366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Estricto apego a la planificación de la Carta Gantt y distribución equitativa de responsabilidades. 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bb6e1aa0_0_159"/>
          <p:cNvSpPr txBox="1"/>
          <p:nvPr>
            <p:ph idx="1" type="body"/>
          </p:nvPr>
        </p:nvSpPr>
        <p:spPr>
          <a:xfrm>
            <a:off x="654675" y="551050"/>
            <a:ext cx="9474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Evidencias e Indicadores de calidad</a:t>
            </a:r>
            <a:endParaRPr/>
          </a:p>
        </p:txBody>
      </p:sp>
      <p:sp>
        <p:nvSpPr>
          <p:cNvPr id="209" name="Google Shape;209;g3f8bb6e1aa0_0_159"/>
          <p:cNvSpPr txBox="1"/>
          <p:nvPr>
            <p:ph idx="2" type="body"/>
          </p:nvPr>
        </p:nvSpPr>
        <p:spPr>
          <a:xfrm>
            <a:off x="3346750" y="3928700"/>
            <a:ext cx="38832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Pruebas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Porcentaje de cobertura de pruebas.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Tasa de éxito en pruebas de integración.</a:t>
            </a:r>
            <a:endParaRPr sz="1800"/>
          </a:p>
          <a:p>
            <a:pPr indent="0" lvl="0" marL="88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800"/>
          </a:p>
        </p:txBody>
      </p:sp>
      <p:pic>
        <p:nvPicPr>
          <p:cNvPr id="210" name="Google Shape;210;g3f8bb6e1aa0_0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8bb6e1aa0_0_159"/>
          <p:cNvSpPr txBox="1"/>
          <p:nvPr>
            <p:ph idx="2" type="body"/>
          </p:nvPr>
        </p:nvSpPr>
        <p:spPr>
          <a:xfrm>
            <a:off x="7229950" y="1297075"/>
            <a:ext cx="40257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Gestión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Índice de cumplimiento de la Carta Gantt.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Desviación de entregables.</a:t>
            </a:r>
            <a:endParaRPr sz="1800"/>
          </a:p>
          <a:p>
            <a:pPr indent="0" lvl="0" marL="88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800"/>
          </a:p>
        </p:txBody>
      </p:sp>
      <p:sp>
        <p:nvSpPr>
          <p:cNvPr id="212" name="Google Shape;212;g3f8bb6e1aa0_0_159"/>
          <p:cNvSpPr txBox="1"/>
          <p:nvPr>
            <p:ph idx="2" type="body"/>
          </p:nvPr>
        </p:nvSpPr>
        <p:spPr>
          <a:xfrm>
            <a:off x="0" y="3978825"/>
            <a:ext cx="32958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Modelos de datos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Grado de normalización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CL" sz="1800"/>
              <a:t> </a:t>
            </a:r>
            <a:r>
              <a:rPr b="1" lang="es-CL" sz="1800"/>
              <a:t>Integridad referencial</a:t>
            </a:r>
            <a:endParaRPr b="1" sz="1800"/>
          </a:p>
        </p:txBody>
      </p:sp>
      <p:sp>
        <p:nvSpPr>
          <p:cNvPr id="213" name="Google Shape;213;g3f8bb6e1aa0_0_159"/>
          <p:cNvSpPr txBox="1"/>
          <p:nvPr>
            <p:ph idx="2" type="body"/>
          </p:nvPr>
        </p:nvSpPr>
        <p:spPr>
          <a:xfrm>
            <a:off x="7636975" y="3928700"/>
            <a:ext cx="38832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s-CL" sz="1800"/>
              <a:t>Software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-CL" sz="1800"/>
              <a:t>Tasa de defectos en la integración de componentes 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CL" sz="1800"/>
              <a:t> </a:t>
            </a:r>
            <a:r>
              <a:rPr b="1" lang="es-CL" sz="1800"/>
              <a:t>Tasa de éxito de implantación </a:t>
            </a:r>
            <a:endParaRPr b="1" sz="1800"/>
          </a:p>
        </p:txBody>
      </p:sp>
      <p:pic>
        <p:nvPicPr>
          <p:cNvPr id="214" name="Google Shape;214;g3f8bb6e1aa0_0_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00" y="1297075"/>
            <a:ext cx="6050220" cy="22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bb6e1aa0_0_180"/>
          <p:cNvSpPr txBox="1"/>
          <p:nvPr>
            <p:ph idx="1" type="body"/>
          </p:nvPr>
        </p:nvSpPr>
        <p:spPr>
          <a:xfrm>
            <a:off x="2817450" y="2353325"/>
            <a:ext cx="6313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5000"/>
              <a:t>CONCLUSIONES Y REFLEXIÓN</a:t>
            </a:r>
            <a:endParaRPr sz="5000"/>
          </a:p>
        </p:txBody>
      </p:sp>
      <p:pic>
        <p:nvPicPr>
          <p:cNvPr id="220" name="Google Shape;220;g3f8bb6e1aa0_0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8bb6e1aa0_0_180"/>
          <p:cNvSpPr txBox="1"/>
          <p:nvPr>
            <p:ph idx="1" type="body"/>
          </p:nvPr>
        </p:nvSpPr>
        <p:spPr>
          <a:xfrm>
            <a:off x="2817450" y="4797900"/>
            <a:ext cx="6313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¡Muchas Gracias!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